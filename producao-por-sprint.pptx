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37160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DF5"/>
                </a:solidFill>
              </a:rPr>
              <a:t>Produção por sprint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66928" y="2148840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D9FFF"/>
                </a:solidFill>
              </a:rPr>
              <a:t>Agosto · Setembro · Outubro de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66928" y="2615184"/>
            <a:ext cx="11057839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</a:rPr>
              <a:t>Base para a conversa de senioridade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3291840"/>
            <a:ext cx="2558720" cy="1371600"/>
          </a:xfrm>
          <a:prstGeom prst="roundRect">
            <a:avLst>
              <a:gd name="adj" fmla="val 4000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429000"/>
            <a:ext cx="219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4A6"/>
                </a:solidFill>
              </a:rPr>
              <a:t>Pessoas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49808" y="3694176"/>
            <a:ext cx="219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5"/>
                </a:solidFill>
              </a:rPr>
              <a:t>15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4261104"/>
            <a:ext cx="219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com entrega no período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99968" y="3291840"/>
            <a:ext cx="2558720" cy="1371600"/>
          </a:xfrm>
          <a:prstGeom prst="roundRect">
            <a:avLst>
              <a:gd name="adj" fmla="val 4000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2848" y="3429000"/>
            <a:ext cx="219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4A6"/>
                </a:solidFill>
              </a:rPr>
              <a:t>Pontos entregues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82848" y="3694176"/>
            <a:ext cx="219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5"/>
                </a:solidFill>
              </a:rPr>
              <a:t>4814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582848" y="4261104"/>
            <a:ext cx="219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bruto, pela régua do Gantt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3008" y="3291840"/>
            <a:ext cx="2558720" cy="1371600"/>
          </a:xfrm>
          <a:prstGeom prst="roundRect">
            <a:avLst>
              <a:gd name="adj" fmla="val 4000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5888" y="3429000"/>
            <a:ext cx="219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4A6"/>
                </a:solidFill>
              </a:rPr>
              <a:t>Descontos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5888" y="3694176"/>
            <a:ext cx="219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DF5"/>
                </a:solidFill>
              </a:rPr>
              <a:t>2831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15888" y="4261104"/>
            <a:ext cx="219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do horário ou em atraso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066047" y="3291840"/>
            <a:ext cx="2558720" cy="1371600"/>
          </a:xfrm>
          <a:prstGeom prst="roundRect">
            <a:avLst>
              <a:gd name="adj" fmla="val 4000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48927" y="3429000"/>
            <a:ext cx="219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8A94A6"/>
                </a:solidFill>
              </a:rPr>
              <a:t>Pontos líquidos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248927" y="3694176"/>
            <a:ext cx="219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ED88F"/>
                </a:solidFill>
              </a:rPr>
              <a:t>1983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9248927" y="4261104"/>
            <a:ext cx="219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41% do bruto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" y="4892040"/>
            <a:ext cx="1105783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Entregas entre 07:00 e 19:00 (horário de Brasília) pontuam. Fora dessa janela, ou entregues após o prazo, entram nos descontos.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Como a conta é feita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As regras são as da própria ferramenta — o número bate com o card do Gantt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768096"/>
          </a:xfrm>
          <a:prstGeom prst="roundRect">
            <a:avLst>
              <a:gd name="adj" fmla="val 7143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71600"/>
            <a:ext cx="50292" cy="768096"/>
          </a:xfrm>
          <a:prstGeom prst="rect">
            <a:avLst/>
          </a:prstGeom>
          <a:solidFill>
            <a:srgbClr val="4D9F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9FFF"/>
                </a:solidFill>
              </a:rPr>
              <a:t>Pontos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58568" y="1463040"/>
            <a:ext cx="913759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Poker da demanda, contada quando está em Validação ou Concluído. Demanda agrupadora fica de fora: o ponto dela é a soma dos filhos.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58568"/>
            <a:ext cx="11057839" cy="768096"/>
          </a:xfrm>
          <a:prstGeom prst="roundRect">
            <a:avLst>
              <a:gd name="adj" fmla="val 7143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58568"/>
            <a:ext cx="50292" cy="768096"/>
          </a:xfrm>
          <a:prstGeom prst="rect">
            <a:avLst/>
          </a:prstGeom>
          <a:solidFill>
            <a:srgbClr val="35C6E8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3682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6E8"/>
                </a:solidFill>
              </a:rPr>
              <a:t>Sprint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58568" y="2350008"/>
            <a:ext cx="913759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Semana de segunda, sobre os dias úteis do mês — a mesma régua do Gantt. Entrega em fim de semana soma no total e não entra em sprint.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145536"/>
            <a:ext cx="11057839" cy="768096"/>
          </a:xfrm>
          <a:prstGeom prst="roundRect">
            <a:avLst>
              <a:gd name="adj" fmla="val 7143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145536"/>
            <a:ext cx="50292" cy="768096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25526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542"/>
                </a:solidFill>
              </a:rPr>
              <a:t>Horário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58568" y="3236976"/>
            <a:ext cx="913759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Convertido para Brasília (UTC−3) antes de julgar. Lendo a hora crua do registro, 194 das 605 entregas do período receberiam o veredito errado.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32504"/>
            <a:ext cx="11057839" cy="768096"/>
          </a:xfrm>
          <a:prstGeom prst="roundRect">
            <a:avLst>
              <a:gd name="adj" fmla="val 7143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032504"/>
            <a:ext cx="50292" cy="768096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142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</a:rPr>
              <a:t>Atraso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58568" y="4123944"/>
            <a:ext cx="913759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Entrega depois do prazo efetivo, que já desconta pausa e dias parados na validação da área. É a mesma conta que a tela mostra no card.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4919472"/>
            <a:ext cx="11057839" cy="768096"/>
          </a:xfrm>
          <a:prstGeom prst="roundRect">
            <a:avLst>
              <a:gd name="adj" fmla="val 7143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919472"/>
            <a:ext cx="50292" cy="768096"/>
          </a:xfrm>
          <a:prstGeom prst="rect">
            <a:avLst/>
          </a:prstGeom>
          <a:solidFill>
            <a:srgbClr val="A974F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4F0"/>
                </a:solidFill>
              </a:rPr>
              <a:t>Desconto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258568" y="5010912"/>
            <a:ext cx="913759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Uma demanda pós-19h E atrasada é descontada UMA vez. Subtrair nas duas colunas tiraria o dobro e produziria um time pior do que ele é.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5833872"/>
            <a:ext cx="11057839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</a:rPr>
              <a:t>4 entregas do período não têm hora registrada — `concluido_em` nunca teve hora. Elas contam no bruto e não são julgadas pelo horário: chutá-las para dentro ou para fora seria inventar o dado que este levantamento existe para medir.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O time, do bruto ao líquido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Ordenado pelo bruto. "Retenção" é quanto do entregue sobrou depois dos descontos.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Ago + Set + 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3350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Pessoa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584448" y="1335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Bruto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6048" y="1335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Fora 07–19h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7648" y="1335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Em atraso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99248" y="13350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Líquido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62288" y="1335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Retenção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11057839" cy="275539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723644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João Siqueira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84448" y="172364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1131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956048" y="172364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542"/>
                </a:solidFill>
              </a:rPr>
              <a:t>−178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27648" y="172364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−418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99248" y="1723644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509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62288" y="172364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542"/>
                </a:solidFill>
              </a:rPr>
              <a:t>45%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94944" y="1999183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Emilly Souza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584448" y="1999183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653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956048" y="1999183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542"/>
                </a:solidFill>
              </a:rPr>
              <a:t>−95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327648" y="1999183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−359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99248" y="1999183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268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62288" y="1999183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542"/>
                </a:solidFill>
              </a:rPr>
              <a:t>41%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2233574"/>
            <a:ext cx="11057839" cy="275539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" y="2274722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Gabriel Fernandes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584448" y="2274722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617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956048" y="2274722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542"/>
                </a:solidFill>
              </a:rPr>
              <a:t>−72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27648" y="2274722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−379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699248" y="2274722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117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62288" y="2274722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19%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4944" y="2550262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Murillo Jesus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584448" y="2550262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519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956048" y="2550262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27648" y="2550262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−284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699248" y="2550262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235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162288" y="2550262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542"/>
                </a:solidFill>
              </a:rPr>
              <a:t>45%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6928" y="2784653"/>
            <a:ext cx="11057839" cy="275539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38" name="Text 36"/>
          <p:cNvSpPr/>
          <p:nvPr/>
        </p:nvSpPr>
        <p:spPr>
          <a:xfrm>
            <a:off x="694944" y="2825801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Maury Teixeira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584448" y="2825801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432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56048" y="2825801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27648" y="2825801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−103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699248" y="2825801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329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9162288" y="2825801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76%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94944" y="3101340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Crisley Almeida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584448" y="3101340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389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956048" y="3101340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542"/>
                </a:solidFill>
              </a:rPr>
              <a:t>−15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327648" y="3101340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−283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7699248" y="3101340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103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9162288" y="3101340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26%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66928" y="3335731"/>
            <a:ext cx="11057839" cy="275539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51" name="Text 49"/>
          <p:cNvSpPr/>
          <p:nvPr/>
        </p:nvSpPr>
        <p:spPr>
          <a:xfrm>
            <a:off x="694944" y="3376879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Lucas Santos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3584448" y="3376879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330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956048" y="3376879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542"/>
                </a:solidFill>
              </a:rPr>
              <a:t>−16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327648" y="3376879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−205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7699248" y="3376879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114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162288" y="3376879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542"/>
                </a:solidFill>
              </a:rPr>
              <a:t>35%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94944" y="3652418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Jhonatan Soares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3584448" y="3652418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217</a:t>
            </a:r>
            <a:endParaRPr lang="en-US" sz="1150" dirty="0"/>
          </a:p>
        </p:txBody>
      </p:sp>
      <p:sp>
        <p:nvSpPr>
          <p:cNvPr id="59" name="Text 57"/>
          <p:cNvSpPr/>
          <p:nvPr/>
        </p:nvSpPr>
        <p:spPr>
          <a:xfrm>
            <a:off x="4956048" y="3652418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542"/>
                </a:solidFill>
              </a:rPr>
              <a:t>−21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6327648" y="3652418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−139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699248" y="3652418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57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9162288" y="3652418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26%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566928" y="3886810"/>
            <a:ext cx="11057839" cy="275539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64" name="Text 62"/>
          <p:cNvSpPr/>
          <p:nvPr/>
        </p:nvSpPr>
        <p:spPr>
          <a:xfrm>
            <a:off x="694944" y="3927958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Eloi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3584448" y="3927958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149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4956048" y="3927958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327648" y="3927958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−89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7699248" y="3927958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60</a:t>
            </a:r>
            <a:endParaRPr lang="en-US" sz="1150" dirty="0"/>
          </a:p>
        </p:txBody>
      </p:sp>
      <p:sp>
        <p:nvSpPr>
          <p:cNvPr id="69" name="Text 67"/>
          <p:cNvSpPr/>
          <p:nvPr/>
        </p:nvSpPr>
        <p:spPr>
          <a:xfrm>
            <a:off x="9162288" y="3927958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542"/>
                </a:solidFill>
              </a:rPr>
              <a:t>40%</a:t>
            </a:r>
            <a:endParaRPr lang="en-US" sz="1150" dirty="0"/>
          </a:p>
        </p:txBody>
      </p:sp>
      <p:sp>
        <p:nvSpPr>
          <p:cNvPr id="70" name="Text 68"/>
          <p:cNvSpPr/>
          <p:nvPr/>
        </p:nvSpPr>
        <p:spPr>
          <a:xfrm>
            <a:off x="694944" y="4203497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Leite</a:t>
            </a:r>
            <a:endParaRPr lang="en-US" sz="1150" dirty="0"/>
          </a:p>
        </p:txBody>
      </p:sp>
      <p:sp>
        <p:nvSpPr>
          <p:cNvPr id="71" name="Text 69"/>
          <p:cNvSpPr/>
          <p:nvPr/>
        </p:nvSpPr>
        <p:spPr>
          <a:xfrm>
            <a:off x="3584448" y="4203497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140</a:t>
            </a:r>
            <a:endParaRPr lang="en-US" sz="1150" dirty="0"/>
          </a:p>
        </p:txBody>
      </p:sp>
      <p:sp>
        <p:nvSpPr>
          <p:cNvPr id="72" name="Text 70"/>
          <p:cNvSpPr/>
          <p:nvPr/>
        </p:nvSpPr>
        <p:spPr>
          <a:xfrm>
            <a:off x="4956048" y="4203497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73" name="Text 71"/>
          <p:cNvSpPr/>
          <p:nvPr/>
        </p:nvSpPr>
        <p:spPr>
          <a:xfrm>
            <a:off x="6327648" y="4203497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−64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7699248" y="4203497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18</a:t>
            </a:r>
            <a:endParaRPr lang="en-US" sz="1150" dirty="0"/>
          </a:p>
        </p:txBody>
      </p:sp>
      <p:sp>
        <p:nvSpPr>
          <p:cNvPr id="75" name="Text 73"/>
          <p:cNvSpPr/>
          <p:nvPr/>
        </p:nvSpPr>
        <p:spPr>
          <a:xfrm>
            <a:off x="9162288" y="4203497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13%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566928" y="4437888"/>
            <a:ext cx="11057839" cy="275539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77" name="Text 75"/>
          <p:cNvSpPr/>
          <p:nvPr/>
        </p:nvSpPr>
        <p:spPr>
          <a:xfrm>
            <a:off x="694944" y="4479036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Marina</a:t>
            </a:r>
            <a:endParaRPr lang="en-US" sz="1150" dirty="0"/>
          </a:p>
        </p:txBody>
      </p:sp>
      <p:sp>
        <p:nvSpPr>
          <p:cNvPr id="78" name="Text 76"/>
          <p:cNvSpPr/>
          <p:nvPr/>
        </p:nvSpPr>
        <p:spPr>
          <a:xfrm>
            <a:off x="3584448" y="4479036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137</a:t>
            </a:r>
            <a:endParaRPr lang="en-US" sz="1150" dirty="0"/>
          </a:p>
        </p:txBody>
      </p:sp>
      <p:sp>
        <p:nvSpPr>
          <p:cNvPr id="79" name="Text 77"/>
          <p:cNvSpPr/>
          <p:nvPr/>
        </p:nvSpPr>
        <p:spPr>
          <a:xfrm>
            <a:off x="4956048" y="4479036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80" name="Text 78"/>
          <p:cNvSpPr/>
          <p:nvPr/>
        </p:nvSpPr>
        <p:spPr>
          <a:xfrm>
            <a:off x="6327648" y="4479036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−24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7699248" y="4479036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113</a:t>
            </a:r>
            <a:endParaRPr lang="en-US" sz="1150" dirty="0"/>
          </a:p>
        </p:txBody>
      </p:sp>
      <p:sp>
        <p:nvSpPr>
          <p:cNvPr id="82" name="Text 80"/>
          <p:cNvSpPr/>
          <p:nvPr/>
        </p:nvSpPr>
        <p:spPr>
          <a:xfrm>
            <a:off x="9162288" y="4479036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82%</a:t>
            </a:r>
            <a:endParaRPr lang="en-US" sz="1150" dirty="0"/>
          </a:p>
        </p:txBody>
      </p:sp>
      <p:sp>
        <p:nvSpPr>
          <p:cNvPr id="83" name="Text 81"/>
          <p:cNvSpPr/>
          <p:nvPr/>
        </p:nvSpPr>
        <p:spPr>
          <a:xfrm>
            <a:off x="694944" y="4754575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Dan Weine</a:t>
            </a:r>
            <a:endParaRPr lang="en-US" sz="1150" dirty="0"/>
          </a:p>
        </p:txBody>
      </p:sp>
      <p:sp>
        <p:nvSpPr>
          <p:cNvPr id="84" name="Text 82"/>
          <p:cNvSpPr/>
          <p:nvPr/>
        </p:nvSpPr>
        <p:spPr>
          <a:xfrm>
            <a:off x="3584448" y="4754575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44</a:t>
            </a:r>
            <a:endParaRPr lang="en-US" sz="1150" dirty="0"/>
          </a:p>
        </p:txBody>
      </p:sp>
      <p:sp>
        <p:nvSpPr>
          <p:cNvPr id="85" name="Text 83"/>
          <p:cNvSpPr/>
          <p:nvPr/>
        </p:nvSpPr>
        <p:spPr>
          <a:xfrm>
            <a:off x="4956048" y="4754575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542"/>
                </a:solidFill>
              </a:rPr>
              <a:t>−11</a:t>
            </a:r>
            <a:endParaRPr lang="en-US" sz="1150" dirty="0"/>
          </a:p>
        </p:txBody>
      </p:sp>
      <p:sp>
        <p:nvSpPr>
          <p:cNvPr id="86" name="Text 84"/>
          <p:cNvSpPr/>
          <p:nvPr/>
        </p:nvSpPr>
        <p:spPr>
          <a:xfrm>
            <a:off x="6327648" y="4754575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−21</a:t>
            </a:r>
            <a:endParaRPr lang="en-US" sz="1150" dirty="0"/>
          </a:p>
        </p:txBody>
      </p:sp>
      <p:sp>
        <p:nvSpPr>
          <p:cNvPr id="87" name="Text 85"/>
          <p:cNvSpPr/>
          <p:nvPr/>
        </p:nvSpPr>
        <p:spPr>
          <a:xfrm>
            <a:off x="7699248" y="4754575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23</a:t>
            </a:r>
            <a:endParaRPr lang="en-US" sz="1150" dirty="0"/>
          </a:p>
        </p:txBody>
      </p:sp>
      <p:sp>
        <p:nvSpPr>
          <p:cNvPr id="88" name="Text 86"/>
          <p:cNvSpPr/>
          <p:nvPr/>
        </p:nvSpPr>
        <p:spPr>
          <a:xfrm>
            <a:off x="9162288" y="4754575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C542"/>
                </a:solidFill>
              </a:rPr>
              <a:t>52%</a:t>
            </a:r>
            <a:endParaRPr lang="en-US" sz="1150" dirty="0"/>
          </a:p>
        </p:txBody>
      </p:sp>
      <p:sp>
        <p:nvSpPr>
          <p:cNvPr id="89" name="Shape 87"/>
          <p:cNvSpPr/>
          <p:nvPr/>
        </p:nvSpPr>
        <p:spPr>
          <a:xfrm>
            <a:off x="566928" y="4988966"/>
            <a:ext cx="11057839" cy="275539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90" name="Text 88"/>
          <p:cNvSpPr/>
          <p:nvPr/>
        </p:nvSpPr>
        <p:spPr>
          <a:xfrm>
            <a:off x="694944" y="5030114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João Carvalho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3584448" y="503011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34</a:t>
            </a:r>
            <a:endParaRPr lang="en-US" sz="1150" dirty="0"/>
          </a:p>
        </p:txBody>
      </p:sp>
      <p:sp>
        <p:nvSpPr>
          <p:cNvPr id="92" name="Text 90"/>
          <p:cNvSpPr/>
          <p:nvPr/>
        </p:nvSpPr>
        <p:spPr>
          <a:xfrm>
            <a:off x="4956048" y="503011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93" name="Text 91"/>
          <p:cNvSpPr/>
          <p:nvPr/>
        </p:nvSpPr>
        <p:spPr>
          <a:xfrm>
            <a:off x="6327648" y="503011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94" name="Text 92"/>
          <p:cNvSpPr/>
          <p:nvPr/>
        </p:nvSpPr>
        <p:spPr>
          <a:xfrm>
            <a:off x="7699248" y="5030114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34</a:t>
            </a:r>
            <a:endParaRPr lang="en-US" sz="1150" dirty="0"/>
          </a:p>
        </p:txBody>
      </p:sp>
      <p:sp>
        <p:nvSpPr>
          <p:cNvPr id="95" name="Text 93"/>
          <p:cNvSpPr/>
          <p:nvPr/>
        </p:nvSpPr>
        <p:spPr>
          <a:xfrm>
            <a:off x="9162288" y="503011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100%</a:t>
            </a:r>
            <a:endParaRPr lang="en-US" sz="1150" dirty="0"/>
          </a:p>
        </p:txBody>
      </p:sp>
      <p:sp>
        <p:nvSpPr>
          <p:cNvPr id="96" name="Text 94"/>
          <p:cNvSpPr/>
          <p:nvPr/>
        </p:nvSpPr>
        <p:spPr>
          <a:xfrm>
            <a:off x="694944" y="5305654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Guilherme Augusto</a:t>
            </a:r>
            <a:endParaRPr lang="en-US" sz="1150" dirty="0"/>
          </a:p>
        </p:txBody>
      </p:sp>
      <p:sp>
        <p:nvSpPr>
          <p:cNvPr id="97" name="Text 95"/>
          <p:cNvSpPr/>
          <p:nvPr/>
        </p:nvSpPr>
        <p:spPr>
          <a:xfrm>
            <a:off x="3584448" y="530565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13</a:t>
            </a:r>
            <a:endParaRPr lang="en-US" sz="1150" dirty="0"/>
          </a:p>
        </p:txBody>
      </p:sp>
      <p:sp>
        <p:nvSpPr>
          <p:cNvPr id="98" name="Text 96"/>
          <p:cNvSpPr/>
          <p:nvPr/>
        </p:nvSpPr>
        <p:spPr>
          <a:xfrm>
            <a:off x="4956048" y="530565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99" name="Text 97"/>
          <p:cNvSpPr/>
          <p:nvPr/>
        </p:nvSpPr>
        <p:spPr>
          <a:xfrm>
            <a:off x="6327648" y="530565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7171"/>
                </a:solidFill>
              </a:rPr>
              <a:t>−13</a:t>
            </a:r>
            <a:endParaRPr lang="en-US" sz="1150" dirty="0"/>
          </a:p>
        </p:txBody>
      </p:sp>
      <p:sp>
        <p:nvSpPr>
          <p:cNvPr id="100" name="Text 98"/>
          <p:cNvSpPr/>
          <p:nvPr/>
        </p:nvSpPr>
        <p:spPr>
          <a:xfrm>
            <a:off x="7699248" y="5305654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0</a:t>
            </a:r>
            <a:endParaRPr lang="en-US" sz="1150" dirty="0"/>
          </a:p>
        </p:txBody>
      </p:sp>
      <p:sp>
        <p:nvSpPr>
          <p:cNvPr id="101" name="Text 99"/>
          <p:cNvSpPr/>
          <p:nvPr/>
        </p:nvSpPr>
        <p:spPr>
          <a:xfrm>
            <a:off x="9162288" y="5305654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0%</a:t>
            </a:r>
            <a:endParaRPr lang="en-US" sz="1150" dirty="0"/>
          </a:p>
        </p:txBody>
      </p:sp>
      <p:sp>
        <p:nvSpPr>
          <p:cNvPr id="102" name="Shape 100"/>
          <p:cNvSpPr/>
          <p:nvPr/>
        </p:nvSpPr>
        <p:spPr>
          <a:xfrm>
            <a:off x="566928" y="5540045"/>
            <a:ext cx="11057839" cy="275539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103" name="Text 101"/>
          <p:cNvSpPr/>
          <p:nvPr/>
        </p:nvSpPr>
        <p:spPr>
          <a:xfrm>
            <a:off x="694944" y="5581193"/>
            <a:ext cx="2889504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Victor Silva</a:t>
            </a:r>
            <a:endParaRPr lang="en-US" sz="1150" dirty="0"/>
          </a:p>
        </p:txBody>
      </p:sp>
      <p:sp>
        <p:nvSpPr>
          <p:cNvPr id="104" name="Text 102"/>
          <p:cNvSpPr/>
          <p:nvPr/>
        </p:nvSpPr>
        <p:spPr>
          <a:xfrm>
            <a:off x="3584448" y="5581193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DF5"/>
                </a:solidFill>
              </a:rPr>
              <a:t>9</a:t>
            </a:r>
            <a:endParaRPr lang="en-US" sz="1150" dirty="0"/>
          </a:p>
        </p:txBody>
      </p:sp>
      <p:sp>
        <p:nvSpPr>
          <p:cNvPr id="105" name="Text 103"/>
          <p:cNvSpPr/>
          <p:nvPr/>
        </p:nvSpPr>
        <p:spPr>
          <a:xfrm>
            <a:off x="4956048" y="5581193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5C542"/>
                </a:solidFill>
              </a:rPr>
              <a:t>−6</a:t>
            </a:r>
            <a:endParaRPr lang="en-US" sz="1150" dirty="0"/>
          </a:p>
        </p:txBody>
      </p:sp>
      <p:sp>
        <p:nvSpPr>
          <p:cNvPr id="106" name="Text 104"/>
          <p:cNvSpPr/>
          <p:nvPr/>
        </p:nvSpPr>
        <p:spPr>
          <a:xfrm>
            <a:off x="6327648" y="5581193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A94A6"/>
                </a:solidFill>
              </a:rPr>
              <a:t>—</a:t>
            </a:r>
            <a:endParaRPr lang="en-US" sz="1150" dirty="0"/>
          </a:p>
        </p:txBody>
      </p:sp>
      <p:sp>
        <p:nvSpPr>
          <p:cNvPr id="107" name="Text 105"/>
          <p:cNvSpPr/>
          <p:nvPr/>
        </p:nvSpPr>
        <p:spPr>
          <a:xfrm>
            <a:off x="7699248" y="5581193"/>
            <a:ext cx="146304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D88F"/>
                </a:solidFill>
              </a:rPr>
              <a:t>3</a:t>
            </a:r>
            <a:endParaRPr lang="en-US" sz="1150" dirty="0"/>
          </a:p>
        </p:txBody>
      </p:sp>
      <p:sp>
        <p:nvSpPr>
          <p:cNvPr id="108" name="Text 106"/>
          <p:cNvSpPr/>
          <p:nvPr/>
        </p:nvSpPr>
        <p:spPr>
          <a:xfrm>
            <a:off x="9162288" y="5581193"/>
            <a:ext cx="1371600" cy="1932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87171"/>
                </a:solidFill>
              </a:rPr>
              <a:t>33%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566928" y="5852160"/>
            <a:ext cx="11057839" cy="10973"/>
          </a:xfrm>
          <a:prstGeom prst="rect">
            <a:avLst/>
          </a:prstGeom>
          <a:solidFill>
            <a:srgbClr val="1E2A3D"/>
          </a:solidFill>
          <a:ln/>
        </p:spPr>
      </p:sp>
      <p:sp>
        <p:nvSpPr>
          <p:cNvPr id="110" name="Text 108"/>
          <p:cNvSpPr/>
          <p:nvPr/>
        </p:nvSpPr>
        <p:spPr>
          <a:xfrm>
            <a:off x="694944" y="5907024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EDF5"/>
                </a:solidFill>
              </a:rPr>
              <a:t>TOTAL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3584448" y="5907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EDF5"/>
                </a:solidFill>
              </a:rPr>
              <a:t>4814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4956048" y="5907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542"/>
                </a:solidFill>
              </a:rPr>
              <a:t>−414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6327648" y="5907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7171"/>
                </a:solidFill>
              </a:rPr>
              <a:t>−2381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7699248" y="59070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1983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9162288" y="5907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41%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João Siqueira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1131 pt brutos · 509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1131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C542"/>
                </a:solidFill>
              </a:rPr>
              <a:t>−178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16%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−418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37%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509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45%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445 pt · 181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121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8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47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55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37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440 pt · 197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22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115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149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102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19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53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89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73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16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22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26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44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86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19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246 pt · 131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42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50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142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12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42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21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47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10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24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95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12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36 pt   ·   14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Emilly Souza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653 pt brutos · 268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653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C542"/>
                </a:solidFill>
              </a:rPr>
              <a:t>−95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15%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−359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55%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268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41%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262 pt · 141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72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37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36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46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229 pt · 49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44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58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28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75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69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21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38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46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69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24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6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12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25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6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162 pt · 78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55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64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22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47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16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55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17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6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21 pt   ·   13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Gabriel Fernandes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617 pt brutos · 117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617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C542"/>
                </a:solidFill>
              </a:rPr>
              <a:t>−72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12%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−379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61%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117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19%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225 pt · 77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73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55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298 pt · 37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171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103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69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171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16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34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94 pt · 3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38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29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22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3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35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29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22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9 pt   ·   13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Murillo Jesus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519 pt brutos · 235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519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−284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55%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235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45%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326 pt · 130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125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102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125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47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55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9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110 pt · 48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37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34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33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32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5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13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27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83 pt · 57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18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31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13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13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31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13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17 pt   ·   14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Maury Teixeira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432 pt brutos · 329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432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−103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24%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329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76%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273 pt · 249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89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89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87 pt · 69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23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11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9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11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23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13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72 pt · 11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42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34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8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25 pt   ·   13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Crisley Almeida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389 pt brutos · 103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389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C542"/>
                </a:solidFill>
              </a:rPr>
              <a:t>−15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4%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−283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73%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103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26%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132 pt · 82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26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55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24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144 pt · 0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89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34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89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34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113 pt · 21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77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15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18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15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68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12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9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12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9 pt   ·   11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Lucas Santos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330 pt brutos · 114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330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C542"/>
                </a:solidFill>
              </a:rPr>
              <a:t>−16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5%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−205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62%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114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35%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36 pt · 2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29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203 pt · 60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24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63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84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5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11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24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63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37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13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47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91 pt · 52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65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10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16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18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16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47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5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10 pt   ·   11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Jhonatan Soares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217 pt brutos · 57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217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C542"/>
                </a:solidFill>
              </a:rPr>
              <a:t>−21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10%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−139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64%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57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26%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21 pt · 21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139 pt · 6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18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15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106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18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12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103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57 pt · 30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24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27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21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21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7 pt   ·   8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Eloi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149 pt brutos · 60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149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−89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60%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60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40%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128 pt · 60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8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47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13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21 pt · 0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21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21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15 pt   ·   4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Leite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140 pt brutos · 18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140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−64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46%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18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13%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128 pt · 12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70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58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12 pt · 6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6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5 pt   ·   4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Marina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137 pt brutos · 113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137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−24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18%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113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82%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42 pt · 27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18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12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9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9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9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6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95 pt · 86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33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18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14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3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27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15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14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14 pt   ·   8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Dan Weine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44 pt brutos · 23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44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C542"/>
                </a:solidFill>
              </a:rPr>
              <a:t>−11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25%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−21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48%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23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52%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19 pt · 3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5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11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11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11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25 pt · 20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9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8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5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9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8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4 pt   ·   6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João Carvalho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34 pt brutos · 34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34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34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100%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34 pt · 34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34 pt   ·   1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Guilherme Augusto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13 pt brutos · 0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13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87171"/>
                </a:solidFill>
              </a:rPr>
              <a:t>−13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100%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0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13 pt · 0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13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7171"/>
                </a:solidFill>
              </a:rPr>
              <a:t>13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0 pt   ·   1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Victor Silva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Pontos entregues por sprint, e o que sai na conta líquida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9 pt brutos · 3 líquidos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Bruto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EDF5"/>
                </a:solidFill>
              </a:rPr>
              <a:t>9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1323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 no período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9996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627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Fora de 07–19h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4627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5C542"/>
                </a:solidFill>
              </a:rPr>
              <a:t>−6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4627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67% do bruto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33008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79312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Em atraso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379312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8A94A6"/>
                </a:solidFill>
              </a:rPr>
              <a:t>0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379312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0% do bruto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066047" y="1298448"/>
            <a:ext cx="2558720" cy="1024128"/>
          </a:xfrm>
          <a:prstGeom prst="roundRect">
            <a:avLst>
              <a:gd name="adj" fmla="val 5357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12351" y="1399032"/>
            <a:ext cx="22661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Líquido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12351" y="1627632"/>
            <a:ext cx="2266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ED88F"/>
                </a:solidFill>
              </a:rPr>
              <a:t>3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212351" y="2066544"/>
            <a:ext cx="2266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33% retido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Agosto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10512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229490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4846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06744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86424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31520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810512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29490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4846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6744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486424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810512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229490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264846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744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86424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31520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810512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229490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4846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06744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486424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31520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810512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229490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64846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6744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486424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344314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08906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Setembro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508906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0 pt · 0 líq.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87898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006876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42585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483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26381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4508906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587898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006876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42585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84483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726381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508906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587898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006876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585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684483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26381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4508906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587898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006876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642585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684483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726381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08906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587898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6006876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642585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84483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726381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121701" y="2542032"/>
            <a:ext cx="3503066" cy="3017520"/>
          </a:xfrm>
          <a:prstGeom prst="roundRect">
            <a:avLst>
              <a:gd name="adj" fmla="val 1818"/>
            </a:avLst>
          </a:prstGeom>
          <a:solidFill>
            <a:srgbClr val="0F1826"/>
          </a:solidFill>
          <a:ln w="12700">
            <a:solidFill>
              <a:srgbClr val="1E2A3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86293" y="2651760"/>
            <a:ext cx="317388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9FFF"/>
                </a:solidFill>
              </a:rPr>
              <a:t>Outubro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8286293" y="2944368"/>
            <a:ext cx="317388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</a:rPr>
              <a:t>9 pt · 3 líq.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365285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S1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784263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S2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10203241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S3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622219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S4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11041197" y="3236976"/>
            <a:ext cx="41897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94A6"/>
                </a:solidFill>
              </a:rPr>
              <a:t>S5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286293" y="35112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Entregue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9365285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5" name="Text 93"/>
          <p:cNvSpPr/>
          <p:nvPr/>
        </p:nvSpPr>
        <p:spPr>
          <a:xfrm>
            <a:off x="9784263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6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10203241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5"/>
                </a:solidFill>
              </a:rPr>
              <a:t>3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10622219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11041197" y="35112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8286293" y="39684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Fora 07–19h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9365285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9784263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542"/>
                </a:solidFill>
              </a:rPr>
              <a:t>6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203241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10622219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4" name="Text 102"/>
          <p:cNvSpPr/>
          <p:nvPr/>
        </p:nvSpPr>
        <p:spPr>
          <a:xfrm>
            <a:off x="11041197" y="39684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8286293" y="44256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Em atraso</a:t>
            </a:r>
            <a:endParaRPr lang="en-US" sz="950" dirty="0"/>
          </a:p>
        </p:txBody>
      </p:sp>
      <p:sp>
        <p:nvSpPr>
          <p:cNvPr id="106" name="Text 104"/>
          <p:cNvSpPr/>
          <p:nvPr/>
        </p:nvSpPr>
        <p:spPr>
          <a:xfrm>
            <a:off x="9365285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9784263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10203241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10622219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11041197" y="44256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8286293" y="4882896"/>
            <a:ext cx="1078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Líquido</a:t>
            </a:r>
            <a:endParaRPr lang="en-US" sz="950" dirty="0"/>
          </a:p>
        </p:txBody>
      </p:sp>
      <p:sp>
        <p:nvSpPr>
          <p:cNvPr id="112" name="Text 110"/>
          <p:cNvSpPr/>
          <p:nvPr/>
        </p:nvSpPr>
        <p:spPr>
          <a:xfrm>
            <a:off x="9365285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3" name="Text 111"/>
          <p:cNvSpPr/>
          <p:nvPr/>
        </p:nvSpPr>
        <p:spPr>
          <a:xfrm>
            <a:off x="9784263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4" name="Text 112"/>
          <p:cNvSpPr/>
          <p:nvPr/>
        </p:nvSpPr>
        <p:spPr>
          <a:xfrm>
            <a:off x="10203241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88F"/>
                </a:solidFill>
              </a:rPr>
              <a:t>3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10622219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11041197" y="4882896"/>
            <a:ext cx="41897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B8C8"/>
                </a:solidFill>
              </a:rPr>
              <a:t>0</a:t>
            </a:r>
            <a:endParaRPr lang="en-US" sz="1200" dirty="0"/>
          </a:p>
        </p:txBody>
      </p:sp>
      <p:sp>
        <p:nvSpPr>
          <p:cNvPr id="117" name="Text 115"/>
          <p:cNvSpPr/>
          <p:nvPr/>
        </p:nvSpPr>
        <p:spPr>
          <a:xfrm>
            <a:off x="566928" y="5687568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8C8"/>
                </a:solidFill>
              </a:rPr>
              <a:t>Média líquida por sprint com entrega: 2 pt   ·   2 sprints com movimento em 3 meses</a:t>
            </a:r>
            <a:endParaRPr lang="en-US" sz="1150" dirty="0"/>
          </a:p>
        </p:txBody>
      </p:sp>
      <p:sp>
        <p:nvSpPr>
          <p:cNvPr id="118" name="Text 116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9" name="Text 117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Entregues em atraso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210 demandas · 2381 pontos. As 16 de maior pontuação.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Ago + Set + Out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3350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Código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9928" y="13350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Demanda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76088" y="1335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Pessoa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87768" y="13350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Pontos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30768" y="13350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Atraso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65208" y="13350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Entrega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7190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AX-265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09928" y="17190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Importação Antifraude - SharePoint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76088" y="1719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Jhonatan Soares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87768" y="17190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100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30768" y="17190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19d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65208" y="171907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30/09 08:48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19933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AX-034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09928" y="1993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Patrimônio (IR PF)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76088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87768" y="19933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89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30768" y="19933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3d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65208" y="199339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31/08 09:20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223113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2677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AX-327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09928" y="2267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Busca de processos Vadu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76088" y="22677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Gabriel Fernandes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87768" y="22677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89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30768" y="22677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6d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65208" y="226771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17/09 16:22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25420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AX-123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09928" y="25420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TESTES COM A API OFICIAL META PARA…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76088" y="25420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Crisley Almeida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87768" y="25420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89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30768" y="25420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49d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65208" y="25420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17/09 15:23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277977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28163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AX-418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709928" y="28163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Esteira Pré-Análise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76088" y="2816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Emilly Souza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87768" y="28163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55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30768" y="281635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2d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665208" y="281635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23/09 21:25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" y="30906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AX-013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709928" y="30906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Gestão a vista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76088" y="30906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Gabriel Fernandes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287768" y="30906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55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30768" y="30906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8d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665208" y="309067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14/09 11:07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332841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51" name="Text 49"/>
          <p:cNvSpPr/>
          <p:nvPr/>
        </p:nvSpPr>
        <p:spPr>
          <a:xfrm>
            <a:off x="566928" y="3364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AX-136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709928" y="33649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Histórico completo de cobrança do sacado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76088" y="33649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Murillo Jesus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287768" y="3364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55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30768" y="3364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6d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665208" y="336499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05/08 08:17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66928" y="36393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AX-166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709928" y="36393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projeto — Audax Controladoria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276088" y="3639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Crisley Almeida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287768" y="36393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55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430768" y="36393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3d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665208" y="363931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01/10 17:29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66928" y="387705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64" name="Text 62"/>
          <p:cNvSpPr/>
          <p:nvPr/>
        </p:nvSpPr>
        <p:spPr>
          <a:xfrm>
            <a:off x="566928" y="39136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AX-172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709928" y="39136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Não permitir realizar nova consulta Serasa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276088" y="39136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Lucas Santos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287768" y="39136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55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430768" y="39136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19d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665208" y="39136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09/09 09:36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66928" y="41879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AX-205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709928" y="41879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Identificar todos sacados/avalistas de um…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276088" y="4187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Leite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287768" y="41879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55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8430768" y="418795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5d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9665208" y="418795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24/08 07:31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66928" y="442569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77" name="Text 75"/>
          <p:cNvSpPr/>
          <p:nvPr/>
        </p:nvSpPr>
        <p:spPr>
          <a:xfrm>
            <a:off x="566928" y="44622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AX-084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709928" y="44622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Operação Consolidada — agrupamento de…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276088" y="4462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7287768" y="44622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34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430768" y="44622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39d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9665208" y="446227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08/09 09:14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566928" y="47365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AX-214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709928" y="47365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Historico de tentativas 1º operação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5276088" y="47365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7287768" y="47365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34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8430768" y="47365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5d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9665208" y="473659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15/09 14:17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66928" y="497433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90" name="Text 88"/>
          <p:cNvSpPr/>
          <p:nvPr/>
        </p:nvSpPr>
        <p:spPr>
          <a:xfrm>
            <a:off x="566928" y="50109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AX-273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1709928" y="5010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(SPIKE) Site Publicado x Vercel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5276088" y="5010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7287768" y="50109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34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8430768" y="50109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3d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9665208" y="501091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09/09 10:23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566928" y="52852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AX-196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1709928" y="52852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Novos campos - Cadastro e Limites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5276088" y="52852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Emilly Souza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7287768" y="52852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34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8430768" y="52852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4d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9665208" y="52852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26/08 08:51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66928" y="552297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103" name="Text 101"/>
          <p:cNvSpPr/>
          <p:nvPr/>
        </p:nvSpPr>
        <p:spPr>
          <a:xfrm>
            <a:off x="566928" y="55595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AX-743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1709928" y="55595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Ajustes no envio PDF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5276088" y="55595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Emilly Souza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7287768" y="55595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34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8430768" y="555955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5d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9665208" y="555955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15/10 07:50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566928" y="58338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AX-262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1709928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Controle de fila Antifraude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5276088" y="5833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Gabriel Fernandes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7287768" y="58338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34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8430768" y="58338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7171"/>
                </a:solidFill>
              </a:rPr>
              <a:t>1d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9665208" y="583387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28/08 08:58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566928" y="630936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</a:rPr>
              <a:t>Atraso é contra o prazo efetivo — que já desconta pausa e dias parados na validação da área. 22 destas também saíram fora do horário, e são descontadas uma vez só.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Entregues fora de 07:00–19:00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49 demandas · 414 pontos. As 16 de maior pontuação.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338767" y="429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D9FFF"/>
                </a:solidFill>
              </a:rPr>
              <a:t>Horário de Brasília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66928" y="13350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Código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709928" y="133502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Demanda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276088" y="13350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Pessoa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287768" y="13350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Pontos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30768" y="13350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Hora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65208" y="1335024"/>
            <a:ext cx="1956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8A94A6"/>
                </a:solidFill>
              </a:rPr>
              <a:t>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168249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7190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AX-418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09928" y="17190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Esteira Pré-Análise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76088" y="17190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Emilly Souza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287768" y="17190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430768" y="17190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21:25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65208" y="171907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23/09  Set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19933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AX-387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09928" y="19933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Correção de endereços e dados bancários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76088" y="19933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Gabriel Fernandes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287768" y="19933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30768" y="19933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19:33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665208" y="199339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25/09  Set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223113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2677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AX-462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09928" y="2267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Notificacao automatica de WhatsApp do…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276088" y="22677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87768" y="22677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21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30768" y="22677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22:11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665208" y="226771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16/09  Set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66928" y="25420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AX-473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709928" y="25420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Observacao da solicitacao de antifraude e…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76088" y="25420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287768" y="25420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21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30768" y="25420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22:08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665208" y="25420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16/09  Set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6928" y="277977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28163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AX-622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709928" y="28163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Conclusão do antifraude retida até a…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276088" y="2816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87768" y="28163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21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430768" y="281635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20:02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665208" y="281635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02/10  Out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" y="30906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AX-652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709928" y="30906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Cadastro: tela Cedente por Fundo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76088" y="30906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287768" y="30906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21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430768" y="30906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21:45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665208" y="309067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01/10  Out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66928" y="332841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51" name="Text 49"/>
          <p:cNvSpPr/>
          <p:nvPr/>
        </p:nvSpPr>
        <p:spPr>
          <a:xfrm>
            <a:off x="566928" y="3364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AX-246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709928" y="33649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Cadastro - Funcionarios e Folha + Sede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276088" y="33649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Emilly Souza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7287768" y="33649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21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430768" y="33649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19:26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9665208" y="336499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28/09  Set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66928" y="36393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AX-790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709928" y="36393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dados do smart para o financeiro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276088" y="36393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Jhonatan Soares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287768" y="36393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21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430768" y="36393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19:04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9665208" y="363931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13/10  Out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566928" y="387705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64" name="Text 62"/>
          <p:cNvSpPr/>
          <p:nvPr/>
        </p:nvSpPr>
        <p:spPr>
          <a:xfrm>
            <a:off x="566928" y="39136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AX-725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1709928" y="39136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Visualização Rápida do DANFE e dos…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276088" y="39136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7287768" y="39136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13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430768" y="39136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20:44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9665208" y="39136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09/10  Out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66928" y="41879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AX-443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1709928" y="41879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Demora na edição - Operações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5276088" y="41879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7287768" y="41879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8430768" y="418795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19:13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9665208" y="418795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16/09  Set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566928" y="442569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77" name="Text 75"/>
          <p:cNvSpPr/>
          <p:nvPr/>
        </p:nvSpPr>
        <p:spPr>
          <a:xfrm>
            <a:off x="566928" y="44622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AX-831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1709928" y="44622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Simulação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5276088" y="4462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80" name="Text 78"/>
          <p:cNvSpPr/>
          <p:nvPr/>
        </p:nvSpPr>
        <p:spPr>
          <a:xfrm>
            <a:off x="7287768" y="44622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430768" y="44622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20:31</a:t>
            </a:r>
            <a:endParaRPr lang="en-US" sz="1050" dirty="0"/>
          </a:p>
        </p:txBody>
      </p:sp>
      <p:sp>
        <p:nvSpPr>
          <p:cNvPr id="82" name="Text 80"/>
          <p:cNvSpPr/>
          <p:nvPr/>
        </p:nvSpPr>
        <p:spPr>
          <a:xfrm>
            <a:off x="9665208" y="446227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15/10  Out</a:t>
            </a:r>
            <a:endParaRPr lang="en-US" sz="1050" dirty="0"/>
          </a:p>
        </p:txBody>
      </p:sp>
      <p:sp>
        <p:nvSpPr>
          <p:cNvPr id="83" name="Text 81"/>
          <p:cNvSpPr/>
          <p:nvPr/>
        </p:nvSpPr>
        <p:spPr>
          <a:xfrm>
            <a:off x="566928" y="47365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AX-502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709928" y="47365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Marcação - Capital de Giro</a:t>
            </a:r>
            <a:endParaRPr lang="en-US" sz="1050" dirty="0"/>
          </a:p>
        </p:txBody>
      </p:sp>
      <p:sp>
        <p:nvSpPr>
          <p:cNvPr id="85" name="Text 83"/>
          <p:cNvSpPr/>
          <p:nvPr/>
        </p:nvSpPr>
        <p:spPr>
          <a:xfrm>
            <a:off x="5276088" y="47365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Emilly Souza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7287768" y="473659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8430768" y="473659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23:02</a:t>
            </a:r>
            <a:endParaRPr lang="en-US" sz="1050" dirty="0"/>
          </a:p>
        </p:txBody>
      </p:sp>
      <p:sp>
        <p:nvSpPr>
          <p:cNvPr id="88" name="Text 86"/>
          <p:cNvSpPr/>
          <p:nvPr/>
        </p:nvSpPr>
        <p:spPr>
          <a:xfrm>
            <a:off x="9665208" y="473659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21/09  Set</a:t>
            </a:r>
            <a:endParaRPr lang="en-US" sz="1050" dirty="0"/>
          </a:p>
        </p:txBody>
      </p:sp>
      <p:sp>
        <p:nvSpPr>
          <p:cNvPr id="89" name="Shape 87"/>
          <p:cNvSpPr/>
          <p:nvPr/>
        </p:nvSpPr>
        <p:spPr>
          <a:xfrm>
            <a:off x="566928" y="497433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90" name="Text 88"/>
          <p:cNvSpPr/>
          <p:nvPr/>
        </p:nvSpPr>
        <p:spPr>
          <a:xfrm>
            <a:off x="566928" y="50109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AX-558</a:t>
            </a:r>
            <a:endParaRPr lang="en-US" sz="1050" dirty="0"/>
          </a:p>
        </p:txBody>
      </p:sp>
      <p:sp>
        <p:nvSpPr>
          <p:cNvPr id="91" name="Text 89"/>
          <p:cNvSpPr/>
          <p:nvPr/>
        </p:nvSpPr>
        <p:spPr>
          <a:xfrm>
            <a:off x="1709928" y="50109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Validação praças x municipios</a:t>
            </a:r>
            <a:endParaRPr lang="en-US" sz="1050" dirty="0"/>
          </a:p>
        </p:txBody>
      </p:sp>
      <p:sp>
        <p:nvSpPr>
          <p:cNvPr id="92" name="Text 90"/>
          <p:cNvSpPr/>
          <p:nvPr/>
        </p:nvSpPr>
        <p:spPr>
          <a:xfrm>
            <a:off x="5276088" y="50109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Gabriel Fernandes</a:t>
            </a:r>
            <a:endParaRPr lang="en-US" sz="1050" dirty="0"/>
          </a:p>
        </p:txBody>
      </p:sp>
      <p:sp>
        <p:nvSpPr>
          <p:cNvPr id="93" name="Text 91"/>
          <p:cNvSpPr/>
          <p:nvPr/>
        </p:nvSpPr>
        <p:spPr>
          <a:xfrm>
            <a:off x="7287768" y="501091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</a:t>
            </a:r>
            <a:endParaRPr lang="en-US" sz="1050" dirty="0"/>
          </a:p>
        </p:txBody>
      </p:sp>
      <p:sp>
        <p:nvSpPr>
          <p:cNvPr id="94" name="Text 92"/>
          <p:cNvSpPr/>
          <p:nvPr/>
        </p:nvSpPr>
        <p:spPr>
          <a:xfrm>
            <a:off x="8430768" y="501091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19:31</a:t>
            </a:r>
            <a:endParaRPr lang="en-US" sz="1050" dirty="0"/>
          </a:p>
        </p:txBody>
      </p:sp>
      <p:sp>
        <p:nvSpPr>
          <p:cNvPr id="95" name="Text 93"/>
          <p:cNvSpPr/>
          <p:nvPr/>
        </p:nvSpPr>
        <p:spPr>
          <a:xfrm>
            <a:off x="9665208" y="501091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25/09  Set</a:t>
            </a:r>
            <a:endParaRPr lang="en-US" sz="1050" dirty="0"/>
          </a:p>
        </p:txBody>
      </p:sp>
      <p:sp>
        <p:nvSpPr>
          <p:cNvPr id="96" name="Text 94"/>
          <p:cNvSpPr/>
          <p:nvPr/>
        </p:nvSpPr>
        <p:spPr>
          <a:xfrm>
            <a:off x="566928" y="52852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AX-620</a:t>
            </a:r>
            <a:endParaRPr lang="en-US" sz="1050" dirty="0"/>
          </a:p>
        </p:txBody>
      </p:sp>
      <p:sp>
        <p:nvSpPr>
          <p:cNvPr id="97" name="Text 95"/>
          <p:cNvSpPr/>
          <p:nvPr/>
        </p:nvSpPr>
        <p:spPr>
          <a:xfrm>
            <a:off x="1709928" y="52852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Ambientacao da V2</a:t>
            </a:r>
            <a:endParaRPr lang="en-US" sz="1050" dirty="0"/>
          </a:p>
        </p:txBody>
      </p:sp>
      <p:sp>
        <p:nvSpPr>
          <p:cNvPr id="98" name="Text 96"/>
          <p:cNvSpPr/>
          <p:nvPr/>
        </p:nvSpPr>
        <p:spPr>
          <a:xfrm>
            <a:off x="5276088" y="52852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Lucas Santos</a:t>
            </a:r>
            <a:endParaRPr lang="en-US" sz="1050" dirty="0"/>
          </a:p>
        </p:txBody>
      </p:sp>
      <p:sp>
        <p:nvSpPr>
          <p:cNvPr id="99" name="Text 97"/>
          <p:cNvSpPr/>
          <p:nvPr/>
        </p:nvSpPr>
        <p:spPr>
          <a:xfrm>
            <a:off x="7287768" y="528523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8430768" y="528523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19:45</a:t>
            </a:r>
            <a:endParaRPr lang="en-US" sz="1050" dirty="0"/>
          </a:p>
        </p:txBody>
      </p:sp>
      <p:sp>
        <p:nvSpPr>
          <p:cNvPr id="101" name="Text 99"/>
          <p:cNvSpPr/>
          <p:nvPr/>
        </p:nvSpPr>
        <p:spPr>
          <a:xfrm>
            <a:off x="9665208" y="528523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29/09  Set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>
            <a:off x="566928" y="5522976"/>
            <a:ext cx="11057839" cy="274320"/>
          </a:xfrm>
          <a:prstGeom prst="rect">
            <a:avLst/>
          </a:prstGeom>
          <a:solidFill>
            <a:srgbClr val="0F1826"/>
          </a:solidFill>
          <a:ln/>
        </p:spPr>
      </p:sp>
      <p:sp>
        <p:nvSpPr>
          <p:cNvPr id="103" name="Text 101"/>
          <p:cNvSpPr/>
          <p:nvPr/>
        </p:nvSpPr>
        <p:spPr>
          <a:xfrm>
            <a:off x="566928" y="55595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AX-397</a:t>
            </a:r>
            <a:endParaRPr lang="en-US" sz="1050" dirty="0"/>
          </a:p>
        </p:txBody>
      </p:sp>
      <p:sp>
        <p:nvSpPr>
          <p:cNvPr id="104" name="Text 102"/>
          <p:cNvSpPr/>
          <p:nvPr/>
        </p:nvSpPr>
        <p:spPr>
          <a:xfrm>
            <a:off x="1709928" y="55595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Ind. Operaciona / Antifraude</a:t>
            </a:r>
            <a:endParaRPr lang="en-US" sz="1050" dirty="0"/>
          </a:p>
        </p:txBody>
      </p:sp>
      <p:sp>
        <p:nvSpPr>
          <p:cNvPr id="105" name="Text 103"/>
          <p:cNvSpPr/>
          <p:nvPr/>
        </p:nvSpPr>
        <p:spPr>
          <a:xfrm>
            <a:off x="5276088" y="55595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Dan Weine</a:t>
            </a:r>
            <a:endParaRPr lang="en-US" sz="1050" dirty="0"/>
          </a:p>
        </p:txBody>
      </p:sp>
      <p:sp>
        <p:nvSpPr>
          <p:cNvPr id="106" name="Text 104"/>
          <p:cNvSpPr/>
          <p:nvPr/>
        </p:nvSpPr>
        <p:spPr>
          <a:xfrm>
            <a:off x="7287768" y="555955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8</a:t>
            </a:r>
            <a:endParaRPr lang="en-US" sz="1050" dirty="0"/>
          </a:p>
        </p:txBody>
      </p:sp>
      <p:sp>
        <p:nvSpPr>
          <p:cNvPr id="107" name="Text 105"/>
          <p:cNvSpPr/>
          <p:nvPr/>
        </p:nvSpPr>
        <p:spPr>
          <a:xfrm>
            <a:off x="8430768" y="555955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00:59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9665208" y="555955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28/09  Set</a:t>
            </a:r>
            <a:endParaRPr lang="en-US" sz="1050" dirty="0"/>
          </a:p>
        </p:txBody>
      </p:sp>
      <p:sp>
        <p:nvSpPr>
          <p:cNvPr id="109" name="Text 107"/>
          <p:cNvSpPr/>
          <p:nvPr/>
        </p:nvSpPr>
        <p:spPr>
          <a:xfrm>
            <a:off x="566928" y="58338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D9FFF"/>
                </a:solidFill>
              </a:rPr>
              <a:t>AX-179</a:t>
            </a:r>
            <a:endParaRPr lang="en-US" sz="1050" dirty="0"/>
          </a:p>
        </p:txBody>
      </p:sp>
      <p:sp>
        <p:nvSpPr>
          <p:cNvPr id="110" name="Text 108"/>
          <p:cNvSpPr/>
          <p:nvPr/>
        </p:nvSpPr>
        <p:spPr>
          <a:xfrm>
            <a:off x="1709928" y="583387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8EDF5"/>
                </a:solidFill>
              </a:rPr>
              <a:t>Sync Status Ativo x Inativo (Monday x WorkOS</a:t>
            </a:r>
            <a:endParaRPr lang="en-US" sz="1050" dirty="0"/>
          </a:p>
        </p:txBody>
      </p:sp>
      <p:sp>
        <p:nvSpPr>
          <p:cNvPr id="111" name="Text 109"/>
          <p:cNvSpPr/>
          <p:nvPr/>
        </p:nvSpPr>
        <p:spPr>
          <a:xfrm>
            <a:off x="5276088" y="58338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8C8"/>
                </a:solidFill>
              </a:rPr>
              <a:t>João Siqueira</a:t>
            </a:r>
            <a:endParaRPr lang="en-US" sz="1050" dirty="0"/>
          </a:p>
        </p:txBody>
      </p:sp>
      <p:sp>
        <p:nvSpPr>
          <p:cNvPr id="112" name="Text 110"/>
          <p:cNvSpPr/>
          <p:nvPr/>
        </p:nvSpPr>
        <p:spPr>
          <a:xfrm>
            <a:off x="7287768" y="5833872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EDF5"/>
                </a:solidFill>
              </a:rPr>
              <a:t>5</a:t>
            </a:r>
            <a:endParaRPr lang="en-US" sz="1050" dirty="0"/>
          </a:p>
        </p:txBody>
      </p:sp>
      <p:sp>
        <p:nvSpPr>
          <p:cNvPr id="113" name="Text 111"/>
          <p:cNvSpPr/>
          <p:nvPr/>
        </p:nvSpPr>
        <p:spPr>
          <a:xfrm>
            <a:off x="8430768" y="58338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5C542"/>
                </a:solidFill>
              </a:rPr>
              <a:t>19:01</a:t>
            </a:r>
            <a:endParaRPr lang="en-US" sz="1050" dirty="0"/>
          </a:p>
        </p:txBody>
      </p:sp>
      <p:sp>
        <p:nvSpPr>
          <p:cNvPr id="114" name="Text 112"/>
          <p:cNvSpPr/>
          <p:nvPr/>
        </p:nvSpPr>
        <p:spPr>
          <a:xfrm>
            <a:off x="9665208" y="5833872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4A6"/>
                </a:solidFill>
              </a:rPr>
              <a:t>06/08  Ago</a:t>
            </a:r>
            <a:endParaRPr lang="en-US" sz="1050" dirty="0"/>
          </a:p>
        </p:txBody>
      </p:sp>
      <p:sp>
        <p:nvSpPr>
          <p:cNvPr id="115" name="Text 113"/>
          <p:cNvSpPr/>
          <p:nvPr/>
        </p:nvSpPr>
        <p:spPr>
          <a:xfrm>
            <a:off x="566928" y="630936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</a:rPr>
              <a:t>A hora é a de Brasília. O registro é gravado em UTC: lendo a hora crua, 194 das 605 entregas do período receberiam o veredito errado sobre esta janela.</a:t>
            </a:r>
            <a:endParaRPr lang="en-US" sz="1050" dirty="0"/>
          </a:p>
        </p:txBody>
      </p:sp>
      <p:sp>
        <p:nvSpPr>
          <p:cNvPr id="116" name="Text 114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117" name="Text 115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868039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8EDF5"/>
                </a:solidFill>
              </a:rPr>
              <a:t>O quadro líquido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86803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</a:rPr>
              <a:t>Média líquida por sprint com entrega — o número para comparar senioridade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João Siqueira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035808" y="1435608"/>
            <a:ext cx="7491679" cy="21488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6" name="Text 4"/>
          <p:cNvSpPr/>
          <p:nvPr/>
        </p:nvSpPr>
        <p:spPr>
          <a:xfrm>
            <a:off x="10573207" y="1371600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36 pt/sprint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51076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Maury Teixeira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035808" y="1815084"/>
            <a:ext cx="5214852" cy="21488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9" name="Text 7"/>
          <p:cNvSpPr/>
          <p:nvPr/>
        </p:nvSpPr>
        <p:spPr>
          <a:xfrm>
            <a:off x="10573207" y="1751076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25 pt/sprint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130552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Emilly Souza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35808" y="2194560"/>
            <a:ext cx="4247964" cy="214884"/>
          </a:xfrm>
          <a:prstGeom prst="rect">
            <a:avLst/>
          </a:prstGeom>
          <a:solidFill>
            <a:srgbClr val="F5C5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73207" y="2130552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21 pt/sprint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2510028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Murillo Jesus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035808" y="2574036"/>
            <a:ext cx="3458830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Text 13"/>
          <p:cNvSpPr/>
          <p:nvPr/>
        </p:nvSpPr>
        <p:spPr>
          <a:xfrm>
            <a:off x="10573207" y="2510028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17 pt/sprint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2889504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Eloi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35808" y="2953512"/>
            <a:ext cx="3090870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8" name="Text 16"/>
          <p:cNvSpPr/>
          <p:nvPr/>
        </p:nvSpPr>
        <p:spPr>
          <a:xfrm>
            <a:off x="10573207" y="2889504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15 pt/sprint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268980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Marina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035808" y="3332988"/>
            <a:ext cx="2910569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1" name="Text 19"/>
          <p:cNvSpPr/>
          <p:nvPr/>
        </p:nvSpPr>
        <p:spPr>
          <a:xfrm>
            <a:off x="10573207" y="3268980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14 pt/sprint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648456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Lucas Santos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035808" y="3712464"/>
            <a:ext cx="2135510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10573207" y="3648456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10 pt/sprint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027932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Crisley Almeida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035808" y="4091940"/>
            <a:ext cx="1929452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7" name="Text 25"/>
          <p:cNvSpPr/>
          <p:nvPr/>
        </p:nvSpPr>
        <p:spPr>
          <a:xfrm>
            <a:off x="10573207" y="4027932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9 pt/sprint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4407408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Gabriel Fernandes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035808" y="4471416"/>
            <a:ext cx="1854522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0" name="Text 28"/>
          <p:cNvSpPr/>
          <p:nvPr/>
        </p:nvSpPr>
        <p:spPr>
          <a:xfrm>
            <a:off x="10573207" y="4407408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9 pt/sprint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6928" y="4786884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Jhonatan Soares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035808" y="4850892"/>
            <a:ext cx="1468163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3" name="Text 31"/>
          <p:cNvSpPr/>
          <p:nvPr/>
        </p:nvSpPr>
        <p:spPr>
          <a:xfrm>
            <a:off x="10573207" y="4786884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7 pt/sprint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6928" y="5166360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Leite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035808" y="5230368"/>
            <a:ext cx="927261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Text 34"/>
          <p:cNvSpPr/>
          <p:nvPr/>
        </p:nvSpPr>
        <p:spPr>
          <a:xfrm>
            <a:off x="10573207" y="5166360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5 pt/sprint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" y="5545836"/>
            <a:ext cx="237744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DF5"/>
                </a:solidFill>
              </a:rPr>
              <a:t>Dan Weine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035808" y="5609844"/>
            <a:ext cx="789889" cy="214884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9" name="Text 37"/>
          <p:cNvSpPr/>
          <p:nvPr/>
        </p:nvSpPr>
        <p:spPr>
          <a:xfrm>
            <a:off x="10573207" y="5545836"/>
            <a:ext cx="10515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C8"/>
                </a:solidFill>
              </a:rPr>
              <a:t>4 pt/sprint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5907024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4A6"/>
                </a:solidFill>
              </a:rPr>
              <a:t>Só quem teve movimento em 3 sprints ou mais. A média é sobre sprints COM entrega — dividir por 15 puniria quem entrou no meio do período.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66928" y="6345936"/>
            <a:ext cx="996055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Audax Capital · RoadMap de Melhorias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0527487" y="634593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4A6"/>
                </a:solidFill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Produção por sprint — Ago/Set/Out 2026</dc:title>
  <dc:subject>PptxGenJS Presentation</dc:subject>
  <dc:creator>Audax Capital</dc:creator>
  <cp:lastModifiedBy>Audax Capital</cp:lastModifiedBy>
  <cp:revision>1</cp:revision>
  <dcterms:created xsi:type="dcterms:W3CDTF">2026-10-20T17:23:58Z</dcterms:created>
  <dcterms:modified xsi:type="dcterms:W3CDTF">2026-10-20T17:23:58Z</dcterms:modified>
</cp:coreProperties>
</file>